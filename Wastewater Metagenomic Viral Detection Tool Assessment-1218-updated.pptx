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37" r:id="rId3"/>
    <p:sldId id="345" r:id="rId4"/>
    <p:sldId id="344" r:id="rId5"/>
    <p:sldId id="346" r:id="rId6"/>
    <p:sldId id="343" r:id="rId7"/>
    <p:sldId id="342" r:id="rId8"/>
    <p:sldId id="341" r:id="rId9"/>
    <p:sldId id="340" r:id="rId10"/>
    <p:sldId id="339" r:id="rId11"/>
    <p:sldId id="338" r:id="rId12"/>
    <p:sldId id="356" r:id="rId13"/>
    <p:sldId id="355" r:id="rId14"/>
    <p:sldId id="354" r:id="rId15"/>
    <p:sldId id="352" r:id="rId16"/>
    <p:sldId id="361" r:id="rId17"/>
    <p:sldId id="353" r:id="rId18"/>
    <p:sldId id="351" r:id="rId19"/>
    <p:sldId id="349" r:id="rId20"/>
    <p:sldId id="348" r:id="rId21"/>
    <p:sldId id="359" r:id="rId22"/>
    <p:sldId id="358" r:id="rId23"/>
    <p:sldId id="357" r:id="rId24"/>
    <p:sldId id="360" r:id="rId25"/>
    <p:sldId id="347" r:id="rId26"/>
    <p:sldId id="362" r:id="rId27"/>
    <p:sldId id="363" r:id="rId28"/>
    <p:sldId id="336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27" autoAdjust="0"/>
    <p:restoredTop sz="94660"/>
  </p:normalViewPr>
  <p:slideViewPr>
    <p:cSldViewPr snapToGrid="0" snapToObjects="1">
      <p:cViewPr varScale="1">
        <p:scale>
          <a:sx n="162" d="100"/>
          <a:sy n="162" d="100"/>
        </p:scale>
        <p:origin x="1710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6665" y="1862947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zh-CN" b="1" dirty="0"/>
              <a:t>Wastewater </a:t>
            </a:r>
            <a:r>
              <a:rPr lang="en-US" b="1" dirty="0"/>
              <a:t>Metagenomic Viral Detection Tool Assessment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3397" y="3750714"/>
            <a:ext cx="6400800" cy="735563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 b="1" dirty="0"/>
              <a:t>Sihua Peng</a:t>
            </a:r>
          </a:p>
          <a:p>
            <a:r>
              <a:rPr lang="en-US" b="1" dirty="0"/>
              <a:t>12/18 /2025</a:t>
            </a:r>
            <a:endParaRPr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9F6612A-45EB-4789-BD74-D2EBA8EEBFE0}"/>
              </a:ext>
            </a:extLst>
          </p:cNvPr>
          <p:cNvGrpSpPr/>
          <p:nvPr/>
        </p:nvGrpSpPr>
        <p:grpSpPr>
          <a:xfrm>
            <a:off x="248902" y="182402"/>
            <a:ext cx="5497693" cy="1267256"/>
            <a:chOff x="248902" y="182402"/>
            <a:chExt cx="5497693" cy="1267256"/>
          </a:xfrm>
        </p:grpSpPr>
        <p:pic>
          <p:nvPicPr>
            <p:cNvPr id="5" name="Picture 4" descr="A logo with text on it&#10;&#10;Description automatically generated">
              <a:extLst>
                <a:ext uri="{FF2B5EF4-FFF2-40B4-BE49-F238E27FC236}">
                  <a16:creationId xmlns:a16="http://schemas.microsoft.com/office/drawing/2014/main" id="{EF78AAF6-0000-406A-908C-A3E989D7E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53492" y="182402"/>
              <a:ext cx="2093103" cy="126725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8F000B6-33D8-45EF-8810-BBA1FFC42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902" y="319166"/>
              <a:ext cx="3350813" cy="113049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Assessment Background and Objectives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263" y="1600200"/>
            <a:ext cx="8593909" cy="45259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Task</a:t>
            </a:r>
            <a:r>
              <a:rPr lang="zh-CN" altLang="en-US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sz="4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List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 software/platforms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Focus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31520" indent="-45720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Deployability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Reproducibility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(cluster deployment without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31520" indent="-45720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Algorithms and Dependency Ecosystem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31520" indent="-45720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Short/Long Read Compatibility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31520" indent="-45720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Interpretation and False Positive Risk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Principles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662940" indent="-45720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output vs. Consensus output</a:t>
            </a:r>
          </a:p>
          <a:p>
            <a:pPr marL="662940" indent="-45720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contradictory conclusions like "both most sensitive and most specific"</a:t>
            </a:r>
          </a:p>
        </p:txBody>
      </p:sp>
    </p:spTree>
    <p:extLst>
      <p:ext uri="{BB962C8B-B14F-4D97-AF65-F5344CB8AC3E}">
        <p14:creationId xmlns:p14="http://schemas.microsoft.com/office/powerpoint/2010/main" val="2742564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Assessment Results Overview</a:t>
            </a:r>
            <a:endParaRPr lang="en-US" sz="32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B72C6C6-027C-432F-834D-CBF8DB551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497211"/>
              </p:ext>
            </p:extLst>
          </p:nvPr>
        </p:nvGraphicFramePr>
        <p:xfrm>
          <a:off x="604683" y="2152737"/>
          <a:ext cx="8229600" cy="24917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8513622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72357715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3922973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306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CDC List - Runnable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In-depth Assessment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109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CDC List - Not Runnable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</a:t>
                      </a: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Reasons Documented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445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Author-Developed Workflows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In-depth Assessment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726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In-depth Assessment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94206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AE5B81B-2FCF-4921-9474-7564E03D642B}"/>
              </a:ext>
            </a:extLst>
          </p:cNvPr>
          <p:cNvSpPr/>
          <p:nvPr/>
        </p:nvSpPr>
        <p:spPr>
          <a:xfrm>
            <a:off x="924580" y="1417638"/>
            <a:ext cx="48766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Assessment Completion Status</a:t>
            </a:r>
            <a:endParaRPr lang="en-US" sz="2800" b="1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0DC930-CD4E-4851-A68F-A3B82D036998}"/>
              </a:ext>
            </a:extLst>
          </p:cNvPr>
          <p:cNvSpPr/>
          <p:nvPr/>
        </p:nvSpPr>
        <p:spPr>
          <a:xfrm>
            <a:off x="1336203" y="4794031"/>
            <a:ext cx="73948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F2328"/>
                </a:solidFill>
                <a:latin typeface="-apple-system"/>
              </a:rPr>
              <a:t>Key Finding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: </a:t>
            </a:r>
            <a:r>
              <a:rPr lang="en-US" dirty="0" err="1">
                <a:solidFill>
                  <a:srgbClr val="1F2328"/>
                </a:solidFill>
                <a:latin typeface="-apple-system"/>
              </a:rPr>
              <a:t>Deployability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is a critical threshold for tool selection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429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8 Tools for In-Depth Assessment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671026-32DD-445A-A95A-99EFF9609DEA}"/>
              </a:ext>
            </a:extLst>
          </p:cNvPr>
          <p:cNvSpPr/>
          <p:nvPr/>
        </p:nvSpPr>
        <p:spPr>
          <a:xfrm>
            <a:off x="407055" y="1305342"/>
            <a:ext cx="822959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Within CDC List (5 items)</a:t>
            </a:r>
          </a:p>
          <a:p>
            <a:pPr marL="274320">
              <a:buFont typeface="+mj-lt"/>
              <a:buAutoNum type="arabicPeriod"/>
            </a:pPr>
            <a:r>
              <a:rPr lang="en-US" sz="24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-core/</a:t>
            </a:r>
            <a:r>
              <a:rPr lang="en-US" sz="24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taxprofiler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Multi-classifier parallel workflow</a:t>
            </a:r>
          </a:p>
          <a:p>
            <a:pPr marL="274320"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GOTTCHA2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High-specificity signature classification</a:t>
            </a:r>
          </a:p>
          <a:p>
            <a:pPr marL="274320"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sourmash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n-US" sz="24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MinHash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rapid retrieval</a:t>
            </a:r>
          </a:p>
          <a:p>
            <a:pPr marL="274320"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CLARK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Discriminative k-</a:t>
            </a:r>
            <a:r>
              <a:rPr lang="en-US" sz="24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classification</a:t>
            </a:r>
          </a:p>
          <a:p>
            <a:pPr marL="274320">
              <a:buFont typeface="+mj-lt"/>
              <a:buAutoNum type="arabicPeriod"/>
            </a:pPr>
            <a:r>
              <a:rPr lang="en-US" sz="24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-core/mag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Metagenomic assembly and binning</a:t>
            </a:r>
          </a:p>
          <a:p>
            <a:endParaRPr lang="en-US" sz="24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Justin group d</a:t>
            </a: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eveloped (3 items)</a:t>
            </a:r>
          </a:p>
          <a:p>
            <a:pPr marL="274320">
              <a:buFont typeface="+mj-lt"/>
              <a:buAutoNum type="arabicPeriod" startAt="6"/>
            </a:pPr>
            <a:r>
              <a:rPr lang="en-US" sz="24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rvdb</a:t>
            </a: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-viral-metagenome-</a:t>
            </a:r>
            <a:r>
              <a:rPr lang="en-US" sz="24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Viral discovery workflow</a:t>
            </a:r>
          </a:p>
          <a:p>
            <a:pPr marL="274320">
              <a:buFont typeface="+mj-lt"/>
              <a:buAutoNum type="arabicPeriod" startAt="6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MLMVD-</a:t>
            </a:r>
            <a:r>
              <a:rPr lang="en-US" sz="24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Multi-tool consensus screening</a:t>
            </a:r>
          </a:p>
          <a:p>
            <a:pPr marL="274320">
              <a:buFont typeface="+mj-lt"/>
              <a:buAutoNum type="arabicPeriod" startAt="6"/>
            </a:pPr>
            <a:r>
              <a:rPr lang="en-US" sz="24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KrakenMetaReads-nf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- Assembly before classification</a:t>
            </a:r>
            <a:endParaRPr lang="en-US" sz="2400" b="0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557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Test Datasets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0F2F46-7B64-4467-BF63-527525782720}"/>
              </a:ext>
            </a:extLst>
          </p:cNvPr>
          <p:cNvSpPr/>
          <p:nvPr/>
        </p:nvSpPr>
        <p:spPr>
          <a:xfrm>
            <a:off x="1125376" y="1411428"/>
            <a:ext cx="58377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Used for Assessment</a:t>
            </a:r>
            <a:endParaRPr lang="en-US" sz="4000" b="1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30537E5-E305-4ACB-9C88-D3B70DF09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5343" y="2513026"/>
            <a:ext cx="7409589" cy="29546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-apple-system"/>
                <a:cs typeface="Times New Roman" panose="02020603050405020304" pitchFamily="18" charset="0"/>
              </a:rPr>
              <a:t>Short Read Data (Illumina)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-apple-system"/>
                <a:cs typeface="Times New Roman" panose="02020603050405020304" pitchFamily="18" charset="0"/>
              </a:rPr>
              <a:t>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Monaspace Neon"/>
                <a:cs typeface="Times New Roman" panose="02020603050405020304" pitchFamily="18" charset="0"/>
              </a:rPr>
              <a:t>llnl_66ce4dde_R1.fastq.gz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-apple-system"/>
                <a:cs typeface="Times New Roman" panose="02020603050405020304" pitchFamily="18" charset="0"/>
              </a:rPr>
              <a:t> (670.52 MB)</a:t>
            </a:r>
          </a:p>
          <a:p>
            <a:pPr marL="27432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Monaspace Neon"/>
                <a:cs typeface="Times New Roman" panose="02020603050405020304" pitchFamily="18" charset="0"/>
              </a:rPr>
              <a:t>llnl_66ce4dde_R2.fastq.gz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-apple-system"/>
                <a:cs typeface="Times New Roman" panose="02020603050405020304" pitchFamily="18" charset="0"/>
              </a:rPr>
              <a:t> (693.43 MB)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1F2328"/>
              </a:solidFill>
              <a:effectLst/>
              <a:latin typeface="Times New Roman" panose="02020603050405020304" pitchFamily="18" charset="0"/>
              <a:ea typeface="-apple-system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-apple-system"/>
                <a:cs typeface="Times New Roman" panose="02020603050405020304" pitchFamily="18" charset="0"/>
              </a:rPr>
              <a:t>Long Read Data (ONT/PacBio-like)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-apple-system"/>
                <a:cs typeface="Times New Roman" panose="02020603050405020304" pitchFamily="18" charset="0"/>
              </a:rPr>
              <a:t>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Monaspace Neon"/>
                <a:cs typeface="Times New Roman" panose="02020603050405020304" pitchFamily="18" charset="0"/>
              </a:rPr>
              <a:t>llnl_66d1047e.fastq.gz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ea typeface="-apple-system"/>
                <a:cs typeface="Times New Roman" panose="02020603050405020304" pitchFamily="18" charset="0"/>
              </a:rPr>
              <a:t> (263.93 MB)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This is a simulated dataset from CDC</a:t>
            </a:r>
          </a:p>
        </p:txBody>
      </p:sp>
    </p:spTree>
    <p:extLst>
      <p:ext uri="{BB962C8B-B14F-4D97-AF65-F5344CB8AC3E}">
        <p14:creationId xmlns:p14="http://schemas.microsoft.com/office/powerpoint/2010/main" val="2398300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Software Unable to be Assessed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35611F-8607-4F38-8603-E7BF4D6B196F}"/>
              </a:ext>
            </a:extLst>
          </p:cNvPr>
          <p:cNvSpPr/>
          <p:nvPr/>
        </p:nvSpPr>
        <p:spPr>
          <a:xfrm>
            <a:off x="1086548" y="1574817"/>
            <a:ext cx="43739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Items from CDC List Failed Deployment</a:t>
            </a:r>
            <a:endParaRPr lang="en-US" b="1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59E347C-5901-474E-914B-9A883143D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165962"/>
              </p:ext>
            </p:extLst>
          </p:nvPr>
        </p:nvGraphicFramePr>
        <p:xfrm>
          <a:off x="430653" y="2011521"/>
          <a:ext cx="8256147" cy="2606040"/>
        </p:xfrm>
        <a:graphic>
          <a:graphicData uri="http://schemas.openxmlformats.org/drawingml/2006/table">
            <a:tbl>
              <a:tblPr/>
              <a:tblGrid>
                <a:gridCol w="1539732">
                  <a:extLst>
                    <a:ext uri="{9D8B030D-6E8A-4147-A177-3AD203B41FA5}">
                      <a16:colId xmlns:a16="http://schemas.microsoft.com/office/drawing/2014/main" val="3639206590"/>
                    </a:ext>
                  </a:extLst>
                </a:gridCol>
                <a:gridCol w="6716415">
                  <a:extLst>
                    <a:ext uri="{9D8B030D-6E8A-4147-A177-3AD203B41FA5}">
                      <a16:colId xmlns:a16="http://schemas.microsoft.com/office/drawing/2014/main" val="37992268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Obstacle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435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CZID (IDseq)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service oriented; local miniwdl insufficient cluster adaptation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423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SURPI+</a:t>
                      </a:r>
                      <a:endParaRPr 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Container requires </a:t>
                      </a:r>
                      <a:r>
                        <a:rPr lang="en-US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sudo</a:t>
                      </a: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conflicts with </a:t>
                      </a:r>
                      <a:r>
                        <a:rPr lang="en-US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Apptainer</a:t>
                      </a: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security policy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466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DHO Lab</a:t>
                      </a:r>
                      <a:endParaRPr 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Container </a:t>
                      </a:r>
                      <a:r>
                        <a:rPr lang="en-US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sudo</a:t>
                      </a: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dependency; complex source dependency chain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2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NAO MGS</a:t>
                      </a:r>
                      <a:endParaRPr 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Container </a:t>
                      </a:r>
                      <a:r>
                        <a:rPr lang="en-US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sudo</a:t>
                      </a: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dependency; complex source dependency chain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640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TaxTriage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Container </a:t>
                      </a:r>
                      <a:r>
                        <a:rPr lang="en-US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sudo</a:t>
                      </a: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dependency; complex source dependency chain</a:t>
                      </a:r>
                    </a:p>
                  </a:txBody>
                  <a:tcPr marL="123825" marR="123825" marT="57150" marB="57150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280828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58F695A-303C-4F1D-9073-4C03CF154FA7}"/>
              </a:ext>
            </a:extLst>
          </p:cNvPr>
          <p:cNvSpPr/>
          <p:nvPr/>
        </p:nvSpPr>
        <p:spPr>
          <a:xfrm>
            <a:off x="1086547" y="4625054"/>
            <a:ext cx="77329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Reason</a:t>
            </a:r>
            <a:r>
              <a:rPr lang="en-US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Containerized deployment requires </a:t>
            </a:r>
            <a:r>
              <a:rPr lang="en-US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permissions, incompatible with HPC principle of least privilege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611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Tool Classification and Strategies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F246E6-3AB4-45BE-A54C-4E15A2ECDC89}"/>
              </a:ext>
            </a:extLst>
          </p:cNvPr>
          <p:cNvSpPr/>
          <p:nvPr/>
        </p:nvSpPr>
        <p:spPr>
          <a:xfrm>
            <a:off x="1420269" y="1417638"/>
            <a:ext cx="6303461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F2328"/>
                </a:solidFill>
                <a:latin typeface="-apple-system"/>
              </a:rPr>
              <a:t>Four Analysis Strategies</a:t>
            </a:r>
            <a:r>
              <a:rPr lang="zh-CN" altLang="en-US" sz="3600" b="1" dirty="0">
                <a:solidFill>
                  <a:srgbClr val="1F2328"/>
                </a:solidFill>
                <a:latin typeface="-apple-system"/>
              </a:rPr>
              <a:t>：</a:t>
            </a:r>
            <a:endParaRPr lang="en-US" altLang="zh-CN" sz="3600" b="1" dirty="0">
              <a:solidFill>
                <a:srgbClr val="1F2328"/>
              </a:solidFill>
              <a:latin typeface="-apple-system"/>
            </a:endParaRP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Read Classification</a:t>
            </a:r>
            <a:endParaRPr lang="en-US" sz="24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taxprofiler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(Kraken2/Bracken)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CLARK, GOTTCHA2, </a:t>
            </a:r>
            <a:r>
              <a:rPr lang="en-US" sz="24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sourmash</a:t>
            </a:r>
            <a:endParaRPr lang="en-US" sz="24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Contig Classification After Assembly</a:t>
            </a:r>
            <a:endParaRPr lang="en-US" sz="24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KrakenMetaReads-nf</a:t>
            </a:r>
            <a:endParaRPr lang="en-US" sz="24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-core/mag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Homology Evidence Chain</a:t>
            </a:r>
            <a:endParaRPr lang="en-US" sz="24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rvdb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-viral (DIAMOND/RVDB)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Viral Feature/Consensus Screening </a:t>
            </a:r>
            <a:endParaRPr lang="en-US" sz="24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MLMVD-</a:t>
            </a:r>
            <a:r>
              <a:rPr lang="en-US" sz="24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(multi-tool consensus) </a:t>
            </a:r>
          </a:p>
        </p:txBody>
      </p:sp>
    </p:spTree>
    <p:extLst>
      <p:ext uri="{BB962C8B-B14F-4D97-AF65-F5344CB8AC3E}">
        <p14:creationId xmlns:p14="http://schemas.microsoft.com/office/powerpoint/2010/main" val="2188795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nf</a:t>
            </a:r>
            <a:r>
              <a:rPr lang="en-US" b="1" dirty="0"/>
              <a:t>-core/</a:t>
            </a:r>
            <a:r>
              <a:rPr lang="en-US" b="1" dirty="0" err="1"/>
              <a:t>taxprofiler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C63267-00D0-4C52-A422-213F3FA6F6A9}"/>
              </a:ext>
            </a:extLst>
          </p:cNvPr>
          <p:cNvSpPr/>
          <p:nvPr/>
        </p:nvSpPr>
        <p:spPr>
          <a:xfrm>
            <a:off x="755118" y="1194911"/>
            <a:ext cx="812931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F2328"/>
                </a:solidFill>
                <a:latin typeface="-apple-system"/>
              </a:rPr>
              <a:t>Multi-Classifier Parallel Workflow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Broad screening + Rapid overview</a:t>
            </a:r>
          </a:p>
          <a:p>
            <a:endParaRPr lang="en-US" sz="20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Features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7432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Nextflow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-core best practices</a:t>
            </a:r>
          </a:p>
          <a:p>
            <a:pPr marL="27432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classifiers (Kraken2, </a:t>
            </a:r>
            <a:r>
              <a:rPr lang="en-US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MetaPhlAn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Kaiju, etc.)</a:t>
            </a:r>
          </a:p>
          <a:p>
            <a:pPr marL="27432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adaptation to short/long reads</a:t>
            </a: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Pre-built Kraken2 viral database</a:t>
            </a:r>
            <a:endParaRPr lang="en-US" sz="20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Compatibility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Fully Compatible</a:t>
            </a:r>
            <a:endParaRPr lang="en-US" sz="20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 Recommendations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7432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 screening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Priority use</a:t>
            </a:r>
          </a:p>
          <a:p>
            <a:pPr marL="27432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High-confidence list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Need to apply consensus/threshold strategies</a:t>
            </a:r>
            <a:endParaRPr lang="en-US" sz="2000" b="0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378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GOTTCHA2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B41B7C-43BF-4B49-AC2E-57DC01214981}"/>
              </a:ext>
            </a:extLst>
          </p:cNvPr>
          <p:cNvSpPr/>
          <p:nvPr/>
        </p:nvSpPr>
        <p:spPr>
          <a:xfrm>
            <a:off x="761017" y="1307886"/>
            <a:ext cx="8020173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F2328"/>
                </a:solidFill>
                <a:latin typeface="-apple-system"/>
              </a:rPr>
              <a:t>High-Specificity Signature Classification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High-specificity classification based on unique signature fragments</a:t>
            </a:r>
            <a:endParaRPr lang="en-US" sz="20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Concept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Only reports when hitting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species-specific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regions</a:t>
            </a:r>
            <a:endParaRPr lang="en-US" sz="20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Compatibility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Compatible </a:t>
            </a:r>
            <a:r>
              <a:rPr lang="en-US" altLang="zh-CN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both short reads and long reads</a:t>
            </a: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Extremely low false positive rate</a:t>
            </a:r>
            <a:endParaRPr lang="en-US" sz="20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May miss extremely low abundance, database-missing targets</a:t>
            </a: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RefSeq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Bacteria, Archaea </a:t>
            </a:r>
            <a:r>
              <a:rPr lang="en-US" altLang="zh-CN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zh-CN" alt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Viruses with the </a:t>
            </a:r>
            <a:r>
              <a:rPr lang="en-US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gottcha_db.species.fna.mmi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 of 100.35 Gb.</a:t>
            </a: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 Recommendation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Use as "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secondary confirmation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tool</a:t>
            </a:r>
            <a:endParaRPr lang="en-US" sz="2000" b="0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586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sourmash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ACF5FD-CAD9-47C6-82F3-290414298895}"/>
              </a:ext>
            </a:extLst>
          </p:cNvPr>
          <p:cNvSpPr/>
          <p:nvPr/>
        </p:nvSpPr>
        <p:spPr>
          <a:xfrm>
            <a:off x="678425" y="1366878"/>
            <a:ext cx="809686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rgbClr val="1F2328"/>
                </a:solidFill>
                <a:latin typeface="-apple-system"/>
              </a:rPr>
              <a:t>MinHash</a:t>
            </a:r>
            <a:r>
              <a:rPr lang="en-US" sz="3200" b="1" dirty="0">
                <a:solidFill>
                  <a:srgbClr val="1F2328"/>
                </a:solidFill>
                <a:latin typeface="-apple-system"/>
              </a:rPr>
              <a:t> Rapid Retrieval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Rapid similarity/containment judgment</a:t>
            </a:r>
          </a:p>
          <a:p>
            <a:endParaRPr lang="en-US" sz="22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7432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Extremely fast, resource-light</a:t>
            </a:r>
          </a:p>
          <a:p>
            <a:pPr marL="27432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large-scale retrieval</a:t>
            </a:r>
            <a:endParaRPr lang="en-US" sz="22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Compatibility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Compatible to both short and long reads</a:t>
            </a:r>
          </a:p>
          <a:p>
            <a:r>
              <a:rPr lang="en-US" sz="22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Sourmash NCBI Viruses database (pre-built)</a:t>
            </a:r>
            <a:endParaRPr lang="en-US" sz="22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 Recommendations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7432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Coverage/consistency validation</a:t>
            </a:r>
          </a:p>
          <a:p>
            <a:pPr marL="27432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 reads need error correction </a:t>
            </a:r>
            <a:endParaRPr lang="en-US" sz="2200" b="0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607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CLARK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24B647-ADF4-486B-9E0A-72034B2D03D1}"/>
              </a:ext>
            </a:extLst>
          </p:cNvPr>
          <p:cNvSpPr/>
          <p:nvPr/>
        </p:nvSpPr>
        <p:spPr>
          <a:xfrm>
            <a:off x="622382" y="1304800"/>
            <a:ext cx="8229600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F2328"/>
                </a:solidFill>
                <a:latin typeface="-apple-system"/>
              </a:rPr>
              <a:t>Discriminative k-</a:t>
            </a:r>
            <a:r>
              <a:rPr lang="en-US" sz="3200" b="1" dirty="0" err="1">
                <a:solidFill>
                  <a:srgbClr val="1F2328"/>
                </a:solidFill>
                <a:latin typeface="-apple-system"/>
              </a:rPr>
              <a:t>mer</a:t>
            </a:r>
            <a:r>
              <a:rPr lang="en-US" sz="3200" b="1" dirty="0">
                <a:solidFill>
                  <a:srgbClr val="1F2328"/>
                </a:solidFill>
                <a:latin typeface="-apple-system"/>
              </a:rPr>
              <a:t> Classification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Uses only k-</a:t>
            </a:r>
            <a:r>
              <a:rPr lang="en-US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mers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uniquely distinguish species</a:t>
            </a:r>
            <a:endParaRPr lang="en-US" sz="20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Variants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CLARK (standard), CLARK-S (spaced seeds), CLARK-l (lightweight)</a:t>
            </a:r>
          </a:p>
          <a:p>
            <a:r>
              <a:rPr lang="en-US" altLang="zh-CN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altLang="zh-CN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NCBI </a:t>
            </a:r>
            <a:r>
              <a:rPr lang="en-US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RefSeq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Virus Database</a:t>
            </a:r>
            <a:endParaRPr lang="en-US" sz="20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Fast speed, good specificity</a:t>
            </a:r>
            <a:endParaRPr lang="en-US" sz="20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Risks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dependency on database coverage</a:t>
            </a:r>
          </a:p>
          <a:p>
            <a:pPr marL="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 read errors affect exact k-</a:t>
            </a:r>
            <a:r>
              <a:rPr lang="en-US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matching</a:t>
            </a: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 Recommendation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Recommend CLARK (standard) for short reads, and CLARK-S for long reads. </a:t>
            </a:r>
            <a:endParaRPr lang="en-US" sz="2000" b="0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806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nf</a:t>
            </a:r>
            <a:r>
              <a:rPr lang="en-US" b="1" dirty="0"/>
              <a:t>-core/mag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F6B4CD-BD0A-4631-81DB-C94754B51029}"/>
              </a:ext>
            </a:extLst>
          </p:cNvPr>
          <p:cNvSpPr/>
          <p:nvPr/>
        </p:nvSpPr>
        <p:spPr>
          <a:xfrm>
            <a:off x="566338" y="1266590"/>
            <a:ext cx="8011324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1F2328"/>
                </a:solidFill>
                <a:latin typeface="-apple-system"/>
              </a:rPr>
              <a:t>Metagenomic Assembly and Binning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Genome reconstruction (not targeting detection)</a:t>
            </a:r>
          </a:p>
          <a:p>
            <a:endParaRPr lang="en-US" sz="22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Value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Produces contigs, bins, MAGs usable for evolutionary/functional analysis</a:t>
            </a:r>
          </a:p>
          <a:p>
            <a:r>
              <a:rPr lang="en-US" sz="22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Kraken2 Viral Database</a:t>
            </a:r>
            <a:endParaRPr lang="en-US" sz="22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Compatibility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Compatible to both short and long reads</a:t>
            </a:r>
          </a:p>
          <a:p>
            <a:r>
              <a:rPr lang="en-US" sz="22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Applicable Scenarios</a:t>
            </a:r>
            <a:r>
              <a:rPr lang="en-US" sz="22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Analyses requiring high-quality genome reconstruction</a:t>
            </a:r>
            <a:endParaRPr lang="en-US" sz="2200" b="0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070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rvdb</a:t>
            </a:r>
            <a:r>
              <a:rPr lang="en-US" b="1" dirty="0"/>
              <a:t>-viral-metagenome-</a:t>
            </a:r>
            <a:r>
              <a:rPr lang="en-US" b="1" dirty="0" err="1"/>
              <a:t>nf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EBD94D-0545-4340-81BD-CFBD08D31E39}"/>
              </a:ext>
            </a:extLst>
          </p:cNvPr>
          <p:cNvSpPr/>
          <p:nvPr/>
        </p:nvSpPr>
        <p:spPr>
          <a:xfrm>
            <a:off x="457200" y="1158066"/>
            <a:ext cx="8515719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1F2328"/>
                </a:solidFill>
                <a:latin typeface="-apple-system"/>
              </a:rPr>
              <a:t>Viral Discovery-Oriented Workflow</a:t>
            </a:r>
          </a:p>
          <a:p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Assembly + RVDB homology search + viral feature validation</a:t>
            </a:r>
            <a:endParaRPr lang="en-US" sz="20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Objective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Improve discovery capability for environmental/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distant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viruses</a:t>
            </a: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sz="2000" dirty="0"/>
              <a:t>RVDB 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DNA (</a:t>
            </a:r>
            <a:r>
              <a:rPr lang="en-US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Virual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classification)+RVDB protein (</a:t>
            </a:r>
            <a:r>
              <a:rPr lang="en-US" sz="2000" dirty="0"/>
              <a:t>Protein alignment)</a:t>
            </a:r>
            <a:endParaRPr lang="en-US" sz="20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6576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RVDB database optimized for viruses</a:t>
            </a:r>
          </a:p>
          <a:p>
            <a:pPr marL="36576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Protein-level search discovers distant sequences</a:t>
            </a:r>
          </a:p>
          <a:p>
            <a:pPr marL="36576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Particularly suitable for large viruses like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NCLDV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Compatibility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Compatible (long reads more beneficial for large virus reconstruction)</a:t>
            </a:r>
          </a:p>
          <a:p>
            <a:r>
              <a:rPr lang="en-US" sz="20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consensus strategy: 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a multi-level consensus analysis workflow that improves the accuracy of viral classification through cross-validation using multiple tools.</a:t>
            </a:r>
          </a:p>
        </p:txBody>
      </p:sp>
    </p:spTree>
    <p:extLst>
      <p:ext uri="{BB962C8B-B14F-4D97-AF65-F5344CB8AC3E}">
        <p14:creationId xmlns:p14="http://schemas.microsoft.com/office/powerpoint/2010/main" val="3203239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MLMVD-</a:t>
            </a:r>
            <a:r>
              <a:rPr lang="en-US" b="1" dirty="0" err="1"/>
              <a:t>nf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MLMVD-</a:t>
            </a:r>
            <a:r>
              <a:rPr lang="en-US" b="1" dirty="0" err="1"/>
              <a:t>nf</a:t>
            </a:r>
            <a:r>
              <a:rPr lang="en-US" b="1" dirty="0"/>
              <a:t>: Multi-Tool Consensus Screening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Strict filter (achieving higher specificity at the expense of sensitivity)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DeepVirFinder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does not rely on any viral reference sequence database.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VirSorter2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VirSort2 database with 12 Gb. It mainly consists of viral sequences + a small amount of non-viral training data.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3.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viralFlye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Pfam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54864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Short reads: VirSorter2 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DeepVirFinder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voting</a:t>
            </a:r>
          </a:p>
          <a:p>
            <a:pPr marL="54864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reads: VirSorter2 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DeepVirFinder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viralFlye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voting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646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KrakenMetaReads-nf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 err="1"/>
              <a:t>KrakenMetaReads-nf</a:t>
            </a:r>
            <a:r>
              <a:rPr lang="en-US" sz="2800" b="1" dirty="0"/>
              <a:t>: Assembly Before Classification</a:t>
            </a:r>
          </a:p>
          <a:p>
            <a:pPr marL="0" indent="0">
              <a:buNone/>
            </a:pPr>
            <a:endParaRPr lang="en-US" sz="2800" b="1" dirty="0"/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 contigs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classification ambiguity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Kraken2 viral reference database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Particularly suitable for giant viruses/large genome fragment positioning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Low-abundance taxa may be lost during assembly stage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Assembly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Long Contigs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Classification(Kraken2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739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90CFA-2701-44D3-A660-130DC7E91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 Empirical Results - </a:t>
            </a:r>
            <a:r>
              <a:rPr lang="en-US" b="1" dirty="0" err="1"/>
              <a:t>taxprofiler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DC8A6-143C-4229-90CD-03E72F516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4100" b="1" dirty="0"/>
              <a:t>Key Observations from Short Read Sample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Broad-spectrum detection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forms "long-tail distribution"</a:t>
            </a:r>
          </a:p>
          <a:p>
            <a:pPr marL="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capture large numbers of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low-abundance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signals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Points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Taxa with "reads &lt; 10" heavily affected by database bias and contamination</a:t>
            </a:r>
          </a:p>
          <a:p>
            <a:pPr marL="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be combined with thresholds and coverage evidence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Suitable for initial screening, requires subsequent validation</a:t>
            </a:r>
          </a:p>
        </p:txBody>
      </p:sp>
    </p:spTree>
    <p:extLst>
      <p:ext uri="{BB962C8B-B14F-4D97-AF65-F5344CB8AC3E}">
        <p14:creationId xmlns:p14="http://schemas.microsoft.com/office/powerpoint/2010/main" val="3785273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Empirical Results - Assembly Strategy Comparison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000" b="1" dirty="0"/>
              <a:t>MEGAHIT vs </a:t>
            </a:r>
            <a:r>
              <a:rPr lang="en-US" sz="4000" b="1" dirty="0" err="1"/>
              <a:t>SPAdes</a:t>
            </a:r>
            <a:endParaRPr lang="en-US" sz="4000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SPAdes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Advantages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more continuous viral contigs</a:t>
            </a:r>
          </a:p>
          <a:p>
            <a:pPr marL="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Beneficial for subsequent evidence chain construction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MEGAHIT Advantages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"comprehensive", retains more low-abundance fragments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Consensus Strategy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Contig sets overlapping between the two assemblers are more robust</a:t>
            </a:r>
          </a:p>
          <a:p>
            <a:pPr marL="0" indent="0">
              <a:buNone/>
            </a:pP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Read Assembly Advantages</a:t>
            </a:r>
          </a:p>
          <a:p>
            <a:pPr marL="457200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Flye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viralFlye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produce contigs from tens of kb to hundreds of kb</a:t>
            </a:r>
          </a:p>
          <a:p>
            <a:pPr marL="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strong evidence chains for large viruses like NCLDV</a:t>
            </a:r>
          </a:p>
        </p:txBody>
      </p:sp>
    </p:spTree>
    <p:extLst>
      <p:ext uri="{BB962C8B-B14F-4D97-AF65-F5344CB8AC3E}">
        <p14:creationId xmlns:p14="http://schemas.microsoft.com/office/powerpoint/2010/main" val="4194295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Empirical Results - Discovery-Oriented Tools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rvdb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-viral Key Observations</a:t>
            </a:r>
          </a:p>
          <a:p>
            <a:pPr marL="54864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Consensus 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Consensus set: dual-track overlap is more reliable, using Kraken2 for contigs and DIAMOND for proteins.</a:t>
            </a:r>
          </a:p>
          <a:p>
            <a:pPr marL="0" indent="0">
              <a:buNone/>
            </a:pP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NCLDV Clues</a:t>
            </a: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4864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numbers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Mimiviridae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Phycodnaviridae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-related hits in long read samples</a:t>
            </a:r>
          </a:p>
          <a:p>
            <a:pPr marL="54864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with long contigs forms strong evidence chain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MLMVD-</a:t>
            </a:r>
            <a:r>
              <a:rPr lang="en-US" sz="4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Observations</a:t>
            </a:r>
          </a:p>
          <a:p>
            <a:pPr marL="548640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-tool consensus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Strict consensus converges to small number of high-confidence contigs</a:t>
            </a:r>
          </a:p>
          <a:p>
            <a:pPr marL="54864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Treat as "confirmation candidate set generator", not "broad-spectrum detector"</a:t>
            </a:r>
          </a:p>
        </p:txBody>
      </p:sp>
    </p:spTree>
    <p:extLst>
      <p:ext uri="{BB962C8B-B14F-4D97-AF65-F5344CB8AC3E}">
        <p14:creationId xmlns:p14="http://schemas.microsoft.com/office/powerpoint/2010/main" val="615992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Computational Resources and Engineering Costs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281" y="1210843"/>
            <a:ext cx="8229600" cy="531384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5800" b="1" dirty="0"/>
              <a:t>Resource Consumption Categories</a:t>
            </a:r>
            <a:r>
              <a:rPr lang="zh-CN" altLang="en-US" sz="5800" b="1" dirty="0"/>
              <a:t>：</a:t>
            </a:r>
            <a:endParaRPr lang="en-US" sz="5800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CPU/Time Intensive</a:t>
            </a: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48640"/>
            <a:r>
              <a:rPr lang="en-U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-core/mag</a:t>
            </a:r>
          </a:p>
          <a:p>
            <a:pPr marL="548640"/>
            <a:r>
              <a:rPr lang="en-U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rvdb</a:t>
            </a: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-viral</a:t>
            </a:r>
          </a:p>
          <a:p>
            <a:pPr marL="548640"/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MLMVD-</a:t>
            </a:r>
            <a:r>
              <a:rPr lang="en-U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Intensive</a:t>
            </a: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48640"/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Kraken2/CLARK (database indices)</a:t>
            </a:r>
          </a:p>
          <a:p>
            <a:pPr marL="0" indent="0">
              <a:buNone/>
            </a:pPr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</a:t>
            </a: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48640"/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sourmash (extremely small sketch)</a:t>
            </a:r>
          </a:p>
          <a:p>
            <a:pPr marL="0" indent="0">
              <a:buNone/>
            </a:pPr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Maturity</a:t>
            </a:r>
            <a:r>
              <a:rPr lang="zh-CN" alt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8640"/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-core series, </a:t>
            </a:r>
            <a:r>
              <a:rPr lang="en-U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Nextflow</a:t>
            </a: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workflows</a:t>
            </a:r>
          </a:p>
          <a:p>
            <a:pPr marL="548640"/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</a:t>
            </a: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Standalone tools (suitable for point-to-point validation)</a:t>
            </a:r>
          </a:p>
        </p:txBody>
      </p:sp>
    </p:spTree>
    <p:extLst>
      <p:ext uri="{BB962C8B-B14F-4D97-AF65-F5344CB8AC3E}">
        <p14:creationId xmlns:p14="http://schemas.microsoft.com/office/powerpoint/2010/main" val="3087302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Database is the "Invisible Deciding Factor"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100" b="1" dirty="0"/>
              <a:t>Impact of Database Selection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RefSeq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/Standard Databases/Libraries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48640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Often underestimate environmental virus and phage diversity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large number of viruses in the environmental samples could not be matched.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RVDB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48640"/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More friendly to viruses (especially environmental viruses and distant sequences)</a:t>
            </a:r>
          </a:p>
          <a:p>
            <a:pPr marL="548640"/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⚠️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Need to guard against database annotation bias,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ecause the sequences in this database are not well annotated.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Database selection directly affects discovery capability</a:t>
            </a:r>
          </a:p>
        </p:txBody>
      </p:sp>
    </p:spTree>
    <p:extLst>
      <p:ext uri="{BB962C8B-B14F-4D97-AF65-F5344CB8AC3E}">
        <p14:creationId xmlns:p14="http://schemas.microsoft.com/office/powerpoint/2010/main" val="3248042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False Positive Control Strategies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476" y="1269836"/>
            <a:ext cx="8229600" cy="45259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400" b="1" dirty="0"/>
              <a:t>Minimum Essential Strategy (Strongly Recommended)</a:t>
            </a:r>
          </a:p>
          <a:p>
            <a:pPr marL="0" indent="0">
              <a:buNone/>
            </a:pPr>
            <a:endParaRPr lang="en-US" sz="3800" b="1" dirty="0"/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Removal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reads: Bowtie2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reads: Minimap2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 Filtering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minimum read count/relative abundance thresholds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Multi-Evidence Chain Consensus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Multi-tool consensus (≥2 tools support)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Assembly evidence priority</a:t>
            </a:r>
          </a:p>
          <a:p>
            <a:pPr marL="0" indent="0"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- Require medium-to-long contigs (&gt;5-10kb)</a:t>
            </a:r>
          </a:p>
          <a:p>
            <a:pPr marL="0" indent="0"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- Viral hallmark genes</a:t>
            </a:r>
          </a:p>
          <a:p>
            <a:pPr marL="0" indent="0"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- DIAMOND/RVDB or VirSorter2/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CheckV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</a:t>
            </a:r>
          </a:p>
        </p:txBody>
      </p:sp>
    </p:spTree>
    <p:extLst>
      <p:ext uri="{BB962C8B-B14F-4D97-AF65-F5344CB8AC3E}">
        <p14:creationId xmlns:p14="http://schemas.microsoft.com/office/powerpoint/2010/main" val="18295634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Decision Matrix (Scores 1-5)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67795AC-255A-437C-8A9F-7C477EEBD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664729"/>
              </p:ext>
            </p:extLst>
          </p:nvPr>
        </p:nvGraphicFramePr>
        <p:xfrm>
          <a:off x="253672" y="1275736"/>
          <a:ext cx="8325459" cy="3736355"/>
        </p:xfrm>
        <a:graphic>
          <a:graphicData uri="http://schemas.openxmlformats.org/drawingml/2006/table">
            <a:tbl>
              <a:tblPr/>
              <a:tblGrid>
                <a:gridCol w="1356852">
                  <a:extLst>
                    <a:ext uri="{9D8B030D-6E8A-4147-A177-3AD203B41FA5}">
                      <a16:colId xmlns:a16="http://schemas.microsoft.com/office/drawing/2014/main" val="782558634"/>
                    </a:ext>
                  </a:extLst>
                </a:gridCol>
                <a:gridCol w="843608">
                  <a:extLst>
                    <a:ext uri="{9D8B030D-6E8A-4147-A177-3AD203B41FA5}">
                      <a16:colId xmlns:a16="http://schemas.microsoft.com/office/drawing/2014/main" val="2130470095"/>
                    </a:ext>
                  </a:extLst>
                </a:gridCol>
                <a:gridCol w="749218">
                  <a:extLst>
                    <a:ext uri="{9D8B030D-6E8A-4147-A177-3AD203B41FA5}">
                      <a16:colId xmlns:a16="http://schemas.microsoft.com/office/drawing/2014/main" val="143184160"/>
                    </a:ext>
                  </a:extLst>
                </a:gridCol>
                <a:gridCol w="937997">
                  <a:extLst>
                    <a:ext uri="{9D8B030D-6E8A-4147-A177-3AD203B41FA5}">
                      <a16:colId xmlns:a16="http://schemas.microsoft.com/office/drawing/2014/main" val="2356210386"/>
                    </a:ext>
                  </a:extLst>
                </a:gridCol>
                <a:gridCol w="979293">
                  <a:extLst>
                    <a:ext uri="{9D8B030D-6E8A-4147-A177-3AD203B41FA5}">
                      <a16:colId xmlns:a16="http://schemas.microsoft.com/office/drawing/2014/main" val="143197341"/>
                    </a:ext>
                  </a:extLst>
                </a:gridCol>
                <a:gridCol w="831809">
                  <a:extLst>
                    <a:ext uri="{9D8B030D-6E8A-4147-A177-3AD203B41FA5}">
                      <a16:colId xmlns:a16="http://schemas.microsoft.com/office/drawing/2014/main" val="3907592121"/>
                    </a:ext>
                  </a:extLst>
                </a:gridCol>
                <a:gridCol w="855406">
                  <a:extLst>
                    <a:ext uri="{9D8B030D-6E8A-4147-A177-3AD203B41FA5}">
                      <a16:colId xmlns:a16="http://schemas.microsoft.com/office/drawing/2014/main" val="2264705359"/>
                    </a:ext>
                  </a:extLst>
                </a:gridCol>
                <a:gridCol w="846225">
                  <a:extLst>
                    <a:ext uri="{9D8B030D-6E8A-4147-A177-3AD203B41FA5}">
                      <a16:colId xmlns:a16="http://schemas.microsoft.com/office/drawing/2014/main" val="3819698881"/>
                    </a:ext>
                  </a:extLst>
                </a:gridCol>
                <a:gridCol w="925051">
                  <a:extLst>
                    <a:ext uri="{9D8B030D-6E8A-4147-A177-3AD203B41FA5}">
                      <a16:colId xmlns:a16="http://schemas.microsoft.com/office/drawing/2014/main" val="488137444"/>
                    </a:ext>
                  </a:extLst>
                </a:gridCol>
              </a:tblGrid>
              <a:tr h="357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effectLst/>
                        </a:rPr>
                        <a:t>Dimension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taxprofiler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rvdb-viral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MLMVD-nf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nf-core/mag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GOTTCHA2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CLARK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effectLst/>
                        </a:rPr>
                        <a:t>sourmash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effectLst/>
                        </a:rPr>
                        <a:t>KrakenMetaReads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858844"/>
                  </a:ext>
                </a:extLst>
              </a:tr>
              <a:tr h="513002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effectLst/>
                        </a:rPr>
                        <a:t>Known Virus Sensitivity</a:t>
                      </a:r>
                      <a:endParaRPr lang="en-US" sz="1200" dirty="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2*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153501"/>
                  </a:ext>
                </a:extLst>
              </a:tr>
              <a:tr h="513002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Distant Virus Discovery</a:t>
                      </a:r>
                      <a:endParaRPr lang="en-US" sz="12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472046"/>
                  </a:ext>
                </a:extLst>
              </a:tr>
              <a:tr h="224722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Specificity</a:t>
                      </a:r>
                      <a:endParaRPr lang="en-US" sz="12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4*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303701"/>
                  </a:ext>
                </a:extLst>
              </a:tr>
              <a:tr h="35700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Result Reliability</a:t>
                      </a:r>
                      <a:endParaRPr lang="en-US" sz="12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686572"/>
                  </a:ext>
                </a:extLst>
              </a:tr>
              <a:tr h="35700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Analysis Speed</a:t>
                      </a:r>
                      <a:endParaRPr lang="en-US" sz="12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231536"/>
                  </a:ext>
                </a:extLst>
              </a:tr>
              <a:tr h="410699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Memory Efficiency</a:t>
                      </a:r>
                      <a:endParaRPr lang="en-US" sz="12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67892"/>
                  </a:ext>
                </a:extLst>
              </a:tr>
              <a:tr h="513002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Genome Reconstruction</a:t>
                      </a:r>
                      <a:endParaRPr lang="en-US" sz="12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95713"/>
                  </a:ext>
                </a:extLst>
              </a:tr>
              <a:tr h="410699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effectLst/>
                        </a:rPr>
                        <a:t>Engineering Maturity</a:t>
                      </a:r>
                      <a:endParaRPr lang="en-US" sz="1200">
                        <a:effectLst/>
                      </a:endParaRP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4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5</a:t>
                      </a:r>
                    </a:p>
                  </a:txBody>
                  <a:tcPr marL="57146" marR="57146" marT="26375" marB="26375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25704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2A596F0-6418-4AAD-9C49-B7C9A0BE6A8A}"/>
              </a:ext>
            </a:extLst>
          </p:cNvPr>
          <p:cNvSpPr/>
          <p:nvPr/>
        </p:nvSpPr>
        <p:spPr>
          <a:xfrm>
            <a:off x="653353" y="5241178"/>
            <a:ext cx="783729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-core/mag scores are </a:t>
            </a:r>
            <a:r>
              <a:rPr lang="en-US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indirect assessments</a:t>
            </a:r>
            <a:r>
              <a:rPr lang="en-US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via MAG reconstruction and classification, not direct read-level detection. High specificity comes from MAG QC evidence chain (</a:t>
            </a:r>
            <a:r>
              <a:rPr lang="en-US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CheckM</a:t>
            </a:r>
            <a:r>
              <a:rPr lang="en-US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/GUNC/coverage), not read-level classification.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116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Recommended Solution One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High-Confidence Consensus and Benchmark Analysis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Combination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4864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taxprofiler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(primary screening)</a:t>
            </a:r>
          </a:p>
          <a:p>
            <a:pPr marL="54864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GOTTCHA2 / sourmash / assembly evidence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48640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taxprofiler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broad-spectrum detection + rapid overview</a:t>
            </a:r>
          </a:p>
          <a:p>
            <a:pPr marL="54864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removal + thresholds + coverage validation</a:t>
            </a:r>
          </a:p>
          <a:p>
            <a:pPr marL="54864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GOTTCHA2 signature coverage confirmation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Applicable Scenarios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4864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Wastewater environmental virus monitoring</a:t>
            </a:r>
          </a:p>
          <a:p>
            <a:pPr marL="54864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Pre-clinical screening projects</a:t>
            </a:r>
          </a:p>
        </p:txBody>
      </p:sp>
    </p:spTree>
    <p:extLst>
      <p:ext uri="{BB962C8B-B14F-4D97-AF65-F5344CB8AC3E}">
        <p14:creationId xmlns:p14="http://schemas.microsoft.com/office/powerpoint/2010/main" val="42839149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Recommended Solutions Two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87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Emerging/Outbreak Pathogen Discovery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Combination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rvdb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-viral (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discovery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→ MLMVD-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(strict screening)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-core/mag (deep reconstruction)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unknown virus surveys, outbreak tracing</a:t>
            </a:r>
          </a:p>
        </p:txBody>
      </p:sp>
    </p:spTree>
    <p:extLst>
      <p:ext uri="{BB962C8B-B14F-4D97-AF65-F5344CB8AC3E}">
        <p14:creationId xmlns:p14="http://schemas.microsoft.com/office/powerpoint/2010/main" val="27593637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6948A-728E-47A6-93A9-E2427DC3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Recommended Solutions Three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E3E8-50E2-444E-BDD8-4CD66E05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Three: Wastewater Virus Monitoring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Combination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First step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taxprofiler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screening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Second step: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GOTTCHA2 (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confirmation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Third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step: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KrakenMetaReads-nf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rvdb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-viral (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assembly validation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524867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CDD1C-1BD6-44E2-BDBA-171F5AF69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Final Recommendations</a:t>
            </a: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F1B57F-57D3-4C32-A455-B1C8A66B42B7}"/>
              </a:ext>
            </a:extLst>
          </p:cNvPr>
          <p:cNvSpPr/>
          <p:nvPr/>
        </p:nvSpPr>
        <p:spPr>
          <a:xfrm>
            <a:off x="890803" y="1417638"/>
            <a:ext cx="810571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F2328"/>
                </a:solidFill>
                <a:latin typeface="-apple-system"/>
              </a:rPr>
              <a:t>Core Recommendations</a:t>
            </a:r>
            <a:r>
              <a:rPr lang="zh-CN" altLang="en-US" sz="3200" b="1" dirty="0">
                <a:solidFill>
                  <a:srgbClr val="1F2328"/>
                </a:solidFill>
                <a:latin typeface="-apple-system"/>
              </a:rPr>
              <a:t>：</a:t>
            </a:r>
            <a:endParaRPr lang="en-US" altLang="zh-CN" sz="3200" b="1" dirty="0">
              <a:solidFill>
                <a:srgbClr val="1F2328"/>
              </a:solidFill>
              <a:latin typeface="-apple-system"/>
            </a:endParaRPr>
          </a:p>
          <a:p>
            <a:endParaRPr lang="en-US" sz="3200" b="1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Reproducibility is a Prerequisite</a:t>
            </a:r>
            <a:endParaRPr lang="en-US" sz="24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that cannot run stably should not enter public health decision chains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Never Use Single Read Count as Existence Conclusion</a:t>
            </a:r>
            <a:endParaRPr lang="en-US" sz="24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Must use coverage/assembly/multi-tool consistency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 Evidence Classification System</a:t>
            </a:r>
          </a:p>
          <a:p>
            <a:pPr marL="804672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Screen-positive </a:t>
            </a:r>
          </a:p>
          <a:p>
            <a:pPr marL="804672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Supportive</a:t>
            </a:r>
          </a:p>
          <a:p>
            <a:pPr marL="804672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Confirmed</a:t>
            </a:r>
            <a:endParaRPr lang="en-US" sz="2400" b="0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46366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B6507-99FC-48E1-8B94-F51EB1593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Key Conclusions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4AAC96-AD5F-48F4-BAAB-29DAE9C8A5DE}"/>
              </a:ext>
            </a:extLst>
          </p:cNvPr>
          <p:cNvSpPr/>
          <p:nvPr/>
        </p:nvSpPr>
        <p:spPr>
          <a:xfrm>
            <a:off x="637130" y="2136068"/>
            <a:ext cx="804967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single tool can meet all requirements</a:t>
            </a:r>
          </a:p>
          <a:p>
            <a:endParaRPr lang="en-US" sz="20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layered strategy: Rapid screening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Confirmation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Deep analysis</a:t>
            </a:r>
          </a:p>
          <a:p>
            <a:endParaRPr lang="en-US" sz="20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Deployability</a:t>
            </a: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critical threshold for tool selection</a:t>
            </a:r>
          </a:p>
          <a:p>
            <a:endParaRPr lang="en-US" sz="20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Multi-evidence chain consensus is key to reducing false positives</a:t>
            </a:r>
            <a:endParaRPr lang="en-US" sz="2000" b="0" i="0" dirty="0"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5929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3123E-DACC-4FDE-8A6D-18033ACDA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3911" y="3072586"/>
            <a:ext cx="6147841" cy="15525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your attention.</a:t>
            </a:r>
          </a:p>
        </p:txBody>
      </p:sp>
    </p:spTree>
    <p:extLst>
      <p:ext uri="{BB962C8B-B14F-4D97-AF65-F5344CB8AC3E}">
        <p14:creationId xmlns:p14="http://schemas.microsoft.com/office/powerpoint/2010/main" val="1860681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61165</TotalTime>
  <Words>1775</Words>
  <Application>Microsoft Office PowerPoint</Application>
  <PresentationFormat>On-screen Show (4:3)</PresentationFormat>
  <Paragraphs>380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-apple-system</vt:lpstr>
      <vt:lpstr>Monaspace Neon</vt:lpstr>
      <vt:lpstr>宋体</vt:lpstr>
      <vt:lpstr>Arial</vt:lpstr>
      <vt:lpstr>Calibri</vt:lpstr>
      <vt:lpstr>Times New Roman</vt:lpstr>
      <vt:lpstr>Wingdings</vt:lpstr>
      <vt:lpstr>Office Theme</vt:lpstr>
      <vt:lpstr>Wastewater Metagenomic Viral Detection Tool Assessment</vt:lpstr>
      <vt:lpstr>Assessment Background and Objectives</vt:lpstr>
      <vt:lpstr>Assessment Results Overview</vt:lpstr>
      <vt:lpstr>8 Tools for In-Depth Assessment</vt:lpstr>
      <vt:lpstr>Test Datasets</vt:lpstr>
      <vt:lpstr>Software Unable to be Assessed</vt:lpstr>
      <vt:lpstr>Tool Classification and Strategies</vt:lpstr>
      <vt:lpstr>nf-core/taxprofiler</vt:lpstr>
      <vt:lpstr>GOTTCHA2</vt:lpstr>
      <vt:lpstr>sourmash</vt:lpstr>
      <vt:lpstr>CLARK</vt:lpstr>
      <vt:lpstr>nf-core/mag</vt:lpstr>
      <vt:lpstr>rvdb-viral-metagenome-nf</vt:lpstr>
      <vt:lpstr>MLMVD-nf</vt:lpstr>
      <vt:lpstr>KrakenMetaReads-nf</vt:lpstr>
      <vt:lpstr> Empirical Results - taxprofiler</vt:lpstr>
      <vt:lpstr>Empirical Results - Assembly Strategy Comparison</vt:lpstr>
      <vt:lpstr>Empirical Results - Discovery-Oriented Tools</vt:lpstr>
      <vt:lpstr>Computational Resources and Engineering Costs</vt:lpstr>
      <vt:lpstr>Database is the "Invisible Deciding Factor"</vt:lpstr>
      <vt:lpstr>False Positive Control Strategies</vt:lpstr>
      <vt:lpstr>Decision Matrix (Scores 1-5)</vt:lpstr>
      <vt:lpstr>Recommended Solution One</vt:lpstr>
      <vt:lpstr>Recommended Solutions Two</vt:lpstr>
      <vt:lpstr>Recommended Solutions Three</vt:lpstr>
      <vt:lpstr>Final Recommendations</vt:lpstr>
      <vt:lpstr>Key Conclusions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Pathogen Surveillance Workflow</dc:title>
  <dc:subject/>
  <dc:creator>Sihua Peng</dc:creator>
  <cp:keywords/>
  <dc:description>generated using python-pptx</dc:description>
  <cp:lastModifiedBy>Sihua Peng</cp:lastModifiedBy>
  <cp:revision>420</cp:revision>
  <dcterms:created xsi:type="dcterms:W3CDTF">2013-01-27T09:14:16Z</dcterms:created>
  <dcterms:modified xsi:type="dcterms:W3CDTF">2025-12-18T15:32:33Z</dcterms:modified>
  <cp:category/>
</cp:coreProperties>
</file>
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7" r:id="rId3"/>
    <p:sldId id="345" r:id="rId4"/>
    <p:sldId id="344" r:id="rId5"/>
    <p:sldId id="346" r:id="rId6"/>
    <p:sldId id="343" r:id="rId7"/>
    <p:sldId id="342" r:id="rId8"/>
    <p:sldId id="341" r:id="rId9"/>
    <p:sldId id="340" r:id="rId10"/>
    <p:sldId id="339" r:id="rId11"/>
    <p:sldId id="338" r:id="rId12"/>
    <p:sldId id="356" r:id="rId13"/>
    <p:sldId id="355" r:id="rId14"/>
    <p:sldId id="354" r:id="rId15"/>
    <p:sldId id="352" r:id="rId16"/>
    <p:sldId id="361" r:id="rId17"/>
    <p:sldId id="353" r:id="rId18"/>
    <p:sldId id="351" r:id="rId19"/>
    <p:sldId id="349" r:id="rId20"/>
    <p:sldId id="348" r:id="rId21"/>
    <p:sldId id="359" r:id="rId22"/>
    <p:sldId id="358" r:id="rId23"/>
    <p:sldId id="357" r:id="rId24"/>
    <p:sldId id="360" r:id="rId25"/>
    <p:sldId id="347" r:id="rId26"/>
    <p:sldId id="362" r:id="rId27"/>
    <p:sldId id="363" r:id="rId28"/>
    <p:sldId id="33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71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665" y="18629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/>
              <a:t>Wastewater </a:t>
            </a:r>
            <a:r>
              <a:rPr lang="en-US" b="1" dirty="0"/>
              <a:t>Metagenomic Viral Detection Tool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397" y="3750714"/>
            <a:ext cx="6400800" cy="7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Sihua Peng</a:t>
            </a:r>
          </a:p>
          <a:p>
            <a:r>
              <a:rPr lang="en-US" b="1" dirty="0"/>
              <a:t>12/18 /2025</a:t>
            </a:r>
            <a:endParaRPr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F6612A-45EB-4789-BD74-D2EBA8EEBFE0}"/>
              </a:ext>
            </a:extLst>
          </p:cNvPr>
          <p:cNvGrpSpPr/>
          <p:nvPr/>
        </p:nvGrpSpPr>
        <p:grpSpPr>
          <a:xfrm>
            <a:off x="248902" y="182402"/>
            <a:ext cx="5497693" cy="1267256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EF78AAF6-0000-406A-908C-A3E989D7E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F000B6-33D8-45EF-8810-BBA1FFC42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Background and Objectives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63" y="1600200"/>
            <a:ext cx="8593909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Task</a:t>
            </a:r>
            <a:r>
              <a:rPr lang="zh-CN" alt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 software/platforms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Focus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Reproducibility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(cluster deployment without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7432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Algorithms and Dependency Ecosystem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Short/Long Read Compatibility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Interpretation and False Positive Risk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Principles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output vs. Consensus/Threshold output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contradictory conclusions like "both most sensitive and most specific"</a:t>
            </a:r>
          </a:p>
        </p:txBody>
      </p:sp>
    </p:spTree>
    <p:extLst>
      <p:ext uri="{BB962C8B-B14F-4D97-AF65-F5344CB8AC3E}">
        <p14:creationId xmlns:p14="http://schemas.microsoft.com/office/powerpoint/2010/main" val="274256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Results Overview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72C6C6-027C-432F-834D-CBF8DB551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497211"/>
              </p:ext>
            </p:extLst>
          </p:nvPr>
        </p:nvGraphicFramePr>
        <p:xfrm>
          <a:off x="604683" y="2152737"/>
          <a:ext cx="8229600" cy="24917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513622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35771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229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06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CDC List - Runnable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10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CDC List - Not Runnable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Reasons Documented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4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Author-Developed Workflows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2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In-depth Assessment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4206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AE5B81B-2FCF-4921-9474-7564E03D642B}"/>
              </a:ext>
            </a:extLst>
          </p:cNvPr>
          <p:cNvSpPr/>
          <p:nvPr/>
        </p:nvSpPr>
        <p:spPr>
          <a:xfrm>
            <a:off x="924580" y="1417638"/>
            <a:ext cx="4876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Completion Status</a:t>
            </a:r>
            <a:endParaRPr lang="en-US" sz="28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0DC930-CD4E-4851-A68F-A3B82D036998}"/>
              </a:ext>
            </a:extLst>
          </p:cNvPr>
          <p:cNvSpPr/>
          <p:nvPr/>
        </p:nvSpPr>
        <p:spPr>
          <a:xfrm>
            <a:off x="1336203" y="4794031"/>
            <a:ext cx="7394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Key Finding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8 Tools for In-Depth Assessment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71026-32DD-445A-A95A-99EFF9609DEA}"/>
              </a:ext>
            </a:extLst>
          </p:cNvPr>
          <p:cNvSpPr/>
          <p:nvPr/>
        </p:nvSpPr>
        <p:spPr>
          <a:xfrm>
            <a:off x="407055" y="1305342"/>
            <a:ext cx="82295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CDC List (5 items)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Multi-classifier parallel workflow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GOTTCHA2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High-specificity signature classification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sourmash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MinHash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 retrieval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Discriminative k-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Metagenomic assembly and binning</a:t>
            </a:r>
          </a:p>
          <a:p>
            <a:endParaRPr lang="en-US" sz="24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Justin group d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eveloped (3 items)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-viral-metagenome-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Viral discovery workflow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Multi-tool consensus screening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Assembly before classification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55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F2F46-7B64-4467-BF63-527525782720}"/>
              </a:ext>
            </a:extLst>
          </p:cNvPr>
          <p:cNvSpPr/>
          <p:nvPr/>
        </p:nvSpPr>
        <p:spPr>
          <a:xfrm>
            <a:off x="1125376" y="1411428"/>
            <a:ext cx="58377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Used for Assessment</a:t>
            </a:r>
            <a:endParaRPr lang="en-US" sz="40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0537E5-E305-4ACB-9C88-D3B70DF09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43" y="2513026"/>
            <a:ext cx="7409589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Short Read Data (Illumina)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llnl_66ce4dde_R1.fastq.gz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(670.52 MB)</a:t>
            </a: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llnl_66ce4dde_R2.fastq.gz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(693.43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Times New Roman" panose="02020603050405020304" pitchFamily="18" charset="0"/>
              <a:ea typeface="-apple-system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Long Read Data (ONT/PacBio-like)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llnl_66d1047e.fastq.gz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(263.93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is a simulated dataset from CDC</a:t>
            </a:r>
          </a:p>
        </p:txBody>
      </p:sp>
    </p:spTree>
    <p:extLst>
      <p:ext uri="{BB962C8B-B14F-4D97-AF65-F5344CB8AC3E}">
        <p14:creationId xmlns:p14="http://schemas.microsoft.com/office/powerpoint/2010/main" val="239830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Unable to be Assessed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5611F-8607-4F38-8603-E7BF4D6B196F}"/>
              </a:ext>
            </a:extLst>
          </p:cNvPr>
          <p:cNvSpPr/>
          <p:nvPr/>
        </p:nvSpPr>
        <p:spPr>
          <a:xfrm>
            <a:off x="1086548" y="1574817"/>
            <a:ext cx="437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Items from CDC List Failed Deployment</a:t>
            </a:r>
            <a:endParaRPr lang="en-US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9E347C-5901-474E-914B-9A883143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165962"/>
              </p:ext>
            </p:extLst>
          </p:nvPr>
        </p:nvGraphicFramePr>
        <p:xfrm>
          <a:off x="430653" y="2011521"/>
          <a:ext cx="8256147" cy="2606040"/>
        </p:xfrm>
        <a:graphic>
          <a:graphicData uri="http://schemas.openxmlformats.org/drawingml/2006/table">
            <a:tbl>
              <a:tblPr/>
              <a:tblGrid>
                <a:gridCol w="1539732">
                  <a:extLst>
                    <a:ext uri="{9D8B030D-6E8A-4147-A177-3AD203B41FA5}">
                      <a16:colId xmlns:a16="http://schemas.microsoft.com/office/drawing/2014/main" val="3639206590"/>
                    </a:ext>
                  </a:extLst>
                </a:gridCol>
                <a:gridCol w="6716415">
                  <a:extLst>
                    <a:ext uri="{9D8B030D-6E8A-4147-A177-3AD203B41FA5}">
                      <a16:colId xmlns:a16="http://schemas.microsoft.com/office/drawing/2014/main" val="3799226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Obstacle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CZID (IDseq)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 oriented; local miniwdl insufficient cluster adaptation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42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SURPI+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requires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conflicts with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Apptainer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security policy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466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DHO Lab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NAO MGS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TaxTriage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8082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58F695A-303C-4F1D-9073-4C03CF154FA7}"/>
              </a:ext>
            </a:extLst>
          </p:cNvPr>
          <p:cNvSpPr/>
          <p:nvPr/>
        </p:nvSpPr>
        <p:spPr>
          <a:xfrm>
            <a:off x="1086547" y="4625054"/>
            <a:ext cx="7732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Reason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Containerized deployment requires 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permissions, incompatible with HPC principle of least privilege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61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 Classification and Strategies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246E6-3AB4-45BE-A54C-4E15A2ECDC89}"/>
              </a:ext>
            </a:extLst>
          </p:cNvPr>
          <p:cNvSpPr/>
          <p:nvPr/>
        </p:nvSpPr>
        <p:spPr>
          <a:xfrm>
            <a:off x="1420269" y="1417638"/>
            <a:ext cx="630346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2328"/>
                </a:solidFill>
                <a:latin typeface="-apple-system"/>
              </a:rPr>
              <a:t>Four Analysis Strategies</a:t>
            </a:r>
            <a:r>
              <a:rPr lang="zh-CN" altLang="en-US" sz="36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600" b="1" dirty="0">
              <a:solidFill>
                <a:srgbClr val="1F2328"/>
              </a:solidFill>
              <a:latin typeface="-apple-system"/>
            </a:endParaRPr>
          </a:p>
          <a:p>
            <a:endParaRPr lang="en-US" sz="36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Read Classification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(Kraken2/Bracken)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CLARK, GOTTCHA2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 Classification After Assembly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Homology Evidence Chain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-viral (DIAMOND/RVDB)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Feature/Consensus Screening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(multi-tool consensus)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795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63267-00D0-4C52-A422-213F3FA6F6A9}"/>
              </a:ext>
            </a:extLst>
          </p:cNvPr>
          <p:cNvSpPr/>
          <p:nvPr/>
        </p:nvSpPr>
        <p:spPr>
          <a:xfrm>
            <a:off x="755118" y="1194911"/>
            <a:ext cx="812931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Multi-Classifier Parallel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Broad screening + Rapid overview</a:t>
            </a:r>
          </a:p>
          <a:p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Nextflow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 best practices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classifiers (Kraken2,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MetaPhlAn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Kaiju, etc.)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to short/long reads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Pre-built Kraken2 viral database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Compatible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screening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Priority use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High-confidence list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Need to apply consensus/threshold strategies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37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GOTTCHA2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41B7C-43BF-4B49-AC2E-57DC01214981}"/>
              </a:ext>
            </a:extLst>
          </p:cNvPr>
          <p:cNvSpPr/>
          <p:nvPr/>
        </p:nvSpPr>
        <p:spPr>
          <a:xfrm>
            <a:off x="761017" y="1307886"/>
            <a:ext cx="802017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High-Specificity Signature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High-specificity classification based on unique signature fragments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Concept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Only reports when hitting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species-specific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(Minimap2 friendly to long reads)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low false positive rate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May miss extremely low abundance, database-missing targets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Bacteria, Archaea 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with the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gottcha_db.species.fna.mmi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of 100.35 Gb.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 as "secondary confirmation" tool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58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sourmash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CF5FD-CAD9-47C6-82F3-290414298895}"/>
              </a:ext>
            </a:extLst>
          </p:cNvPr>
          <p:cNvSpPr/>
          <p:nvPr/>
        </p:nvSpPr>
        <p:spPr>
          <a:xfrm>
            <a:off x="678425" y="1366878"/>
            <a:ext cx="8096865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Rapid similarity/containment judgment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fast, resource-light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large-scale retrieval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✅ Compatible (but error rates affect k-</a:t>
            </a:r>
            <a:r>
              <a:rPr lang="en-US" sz="22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matching)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Sourmash NCBI Viruses database (pre-built)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Coverage/consistency validation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reads need error correction or use as "coarse validation"</a:t>
            </a:r>
            <a:endParaRPr lang="en-US" sz="22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6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CLARK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4B647-ADF4-486B-9E0A-72034B2D03D1}"/>
              </a:ext>
            </a:extLst>
          </p:cNvPr>
          <p:cNvSpPr/>
          <p:nvPr/>
        </p:nvSpPr>
        <p:spPr>
          <a:xfrm>
            <a:off x="622382" y="1304800"/>
            <a:ext cx="82296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Discriminative k-</a:t>
            </a:r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Uses only k-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uniquely distinguish species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CLARK (standard), CLARK-S (spaced seeds), CLARK-l (lightweight)</a:t>
            </a:r>
          </a:p>
          <a:p>
            <a:r>
              <a:rPr lang="en-US" altLang="zh-CN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NCBI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 Database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Fast speed, good specificity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dependency on database coverage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read errors affect exact k-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matching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Recommend CLARK-S for long reads, requires sufficient memory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0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-core/mag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6B4CD-BD0A-4631-81DB-C94754B51029}"/>
              </a:ext>
            </a:extLst>
          </p:cNvPr>
          <p:cNvSpPr/>
          <p:nvPr/>
        </p:nvSpPr>
        <p:spPr>
          <a:xfrm>
            <a:off x="566338" y="1266590"/>
            <a:ext cx="801132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Metagenomic Assembly and Binning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Genome reconstruction (not targeting detection)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Value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Produces contigs, bins, MAGs usable for evolutionary/functional analysis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Kraken2 Viral Database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Short reads fully compatible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assembly friendly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Pure long read assembly strategy not optimal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Applicable Scenarios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Analyses requiring high-quality genome reconstruction</a:t>
            </a:r>
            <a:endParaRPr lang="en-US" sz="22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rvdb</a:t>
            </a:r>
            <a:r>
              <a:rPr lang="en-US" b="1" dirty="0"/>
              <a:t>-viral-metagenome-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BD94D-0545-4340-81BD-CFBD08D31E39}"/>
              </a:ext>
            </a:extLst>
          </p:cNvPr>
          <p:cNvSpPr/>
          <p:nvPr/>
        </p:nvSpPr>
        <p:spPr>
          <a:xfrm>
            <a:off x="1047135" y="1158066"/>
            <a:ext cx="750103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Viral Discovery-Oriented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Assembly + RVDB homology search + viral feature validation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Improve discovery capability for environmental/distant viruses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 err="1"/>
              <a:t>RVDB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（Reference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Viral Database）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 database optimized for viruses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Protein-level search discovers distant sequences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suitable for large viruses like NCLDV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✅ Compatible (long reads more beneficial for large virus reconstruction)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504AD7-3904-4433-A12E-E95B0DAA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34" y="5652358"/>
            <a:ext cx="5748950" cy="93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3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MLMVD-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MLMVD-</a:t>
            </a:r>
            <a:r>
              <a:rPr lang="en-US" b="1" dirty="0" err="1"/>
              <a:t>nf</a:t>
            </a:r>
            <a:r>
              <a:rPr lang="en-US" b="1" dirty="0"/>
              <a:t>: Multi-Tool Consensus Screening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filter (trades sensitivity for specificity)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rely on any viral reference sequence database.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VirSorter2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VirSort2 database with 12 Gb. It mainly consists of viral sequences + a small amount of non-viral training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VirSorter2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Smaller but more reliable candidate set</a:t>
            </a:r>
          </a:p>
        </p:txBody>
      </p:sp>
    </p:spTree>
    <p:extLst>
      <p:ext uri="{BB962C8B-B14F-4D97-AF65-F5344CB8AC3E}">
        <p14:creationId xmlns:p14="http://schemas.microsoft.com/office/powerpoint/2010/main" val="307864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KrakenMetaReads-nf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err="1"/>
              <a:t>KrakenMetaReads-nf</a:t>
            </a:r>
            <a:r>
              <a:rPr lang="en-US" sz="2800" b="1" dirty="0"/>
              <a:t>: Assembly Before Classification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long contigs to reduce classification ambiguity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Kraken2 viral reference database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Particularly suitable for giant viruses/large genome fragment positioning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Low-abundance taxa may be lost during assembly stage</a:t>
            </a:r>
          </a:p>
        </p:txBody>
      </p:sp>
    </p:spTree>
    <p:extLst>
      <p:ext uri="{BB962C8B-B14F-4D97-AF65-F5344CB8AC3E}">
        <p14:creationId xmlns:p14="http://schemas.microsoft.com/office/powerpoint/2010/main" val="398373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0CFA-2701-44D3-A660-130DC7E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Empirical Results - 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C8A6-143C-4229-90CD-03E72F51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Key Observations from Short Read Sample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Broad-spectrum detection, forms "long-tail distribution"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capture large numbers of low-abundance signals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 with "reads &lt; 10" heavily affected by database bias and contamination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combined with thresholds and coverage evidence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Suitable for initial screening, requires subsequent validation</a:t>
            </a:r>
          </a:p>
        </p:txBody>
      </p:sp>
    </p:spTree>
    <p:extLst>
      <p:ext uri="{BB962C8B-B14F-4D97-AF65-F5344CB8AC3E}">
        <p14:creationId xmlns:p14="http://schemas.microsoft.com/office/powerpoint/2010/main" val="378527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Empirical Results - Assembly Strategy Comparison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/>
              <a:t>MEGAHIT vs </a:t>
            </a:r>
            <a:r>
              <a:rPr lang="en-US" sz="4000" b="1" dirty="0" err="1"/>
              <a:t>SPAdes</a:t>
            </a:r>
            <a:endParaRPr lang="en-US" sz="40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SPAdes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more continuous viral contigs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Beneficial for subsequent evidence chain construction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MEGAHIT 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"comprehensive", retains more low-abundance fragments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Consensus Strategy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Contig sets overlapping between the two assemblers are more robust</a:t>
            </a:r>
          </a:p>
          <a:p>
            <a:pPr marL="0" indent="0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 Assembly Advantages</a:t>
            </a:r>
          </a:p>
          <a:p>
            <a:pPr marL="45720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produce contigs from tens of kb to hundreds of kb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strong evidence chains for large viruses like NCLDV</a:t>
            </a:r>
          </a:p>
        </p:txBody>
      </p:sp>
    </p:spTree>
    <p:extLst>
      <p:ext uri="{BB962C8B-B14F-4D97-AF65-F5344CB8AC3E}">
        <p14:creationId xmlns:p14="http://schemas.microsoft.com/office/powerpoint/2010/main" val="419429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Empirical Results - Discovery-Oriented Tools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Key Observations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Consensus 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Dual-track (assembly/features/homology) overlap more reliable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NCLDV Clues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Mimiviridae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Phycodnaviridae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-related hits in long read samples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long contigs forms strong evidence chain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Observations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3-tool consensus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consensus converges to small number of high-confidence contigs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Treat as "confirmation candidate set generator", not "broad-spectrum detector"</a:t>
            </a:r>
          </a:p>
        </p:txBody>
      </p:sp>
    </p:spTree>
    <p:extLst>
      <p:ext uri="{BB962C8B-B14F-4D97-AF65-F5344CB8AC3E}">
        <p14:creationId xmlns:p14="http://schemas.microsoft.com/office/powerpoint/2010/main" val="61599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Computational Resources and Engineering Costs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81" y="1210843"/>
            <a:ext cx="8229600" cy="531384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600" b="1" dirty="0"/>
              <a:t>Resource Consumption Categories</a:t>
            </a:r>
            <a:r>
              <a:rPr lang="zh-CN" altLang="en-US" sz="4600" b="1" dirty="0"/>
              <a:t>：</a:t>
            </a:r>
            <a:endParaRPr lang="en-US" sz="46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CPU/Time Intensive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</a:p>
          <a:p>
            <a:pPr marL="548640"/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Intensive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Kraken2/CLARK (database indices)</a:t>
            </a:r>
          </a:p>
          <a:p>
            <a:pPr marL="0" indent="0">
              <a:buNone/>
            </a:pP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sourmash (extremely small sketch)</a:t>
            </a:r>
          </a:p>
          <a:p>
            <a:pPr marL="0" indent="0"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Maturity</a:t>
            </a:r>
            <a:r>
              <a:rPr lang="zh-CN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 series, 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Nextflow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workflows (batch processing, logging, checkpoint resumption)</a:t>
            </a:r>
          </a:p>
          <a:p>
            <a:pPr marL="548640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Standalone tools (suitable for point-to-point validation)</a:t>
            </a:r>
          </a:p>
        </p:txBody>
      </p:sp>
    </p:spTree>
    <p:extLst>
      <p:ext uri="{BB962C8B-B14F-4D97-AF65-F5344CB8AC3E}">
        <p14:creationId xmlns:p14="http://schemas.microsoft.com/office/powerpoint/2010/main" val="3087302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Database is the "Invisible Deciding Factor"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Impact of Database Selection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/Standard Libraries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underestimate environmental virus and phage diversity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friendly to viruses (especially environmental viruses and distant sequences)</a:t>
            </a:r>
          </a:p>
          <a:p>
            <a:pPr marL="548640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Need to guard against database annotation bias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Database selection directly affects discovery capability</a:t>
            </a:r>
          </a:p>
        </p:txBody>
      </p:sp>
    </p:spTree>
    <p:extLst>
      <p:ext uri="{BB962C8B-B14F-4D97-AF65-F5344CB8AC3E}">
        <p14:creationId xmlns:p14="http://schemas.microsoft.com/office/powerpoint/2010/main" val="3248042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False Positive Control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76" y="1269836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/>
              <a:t>Minimum Essential Strategy (Strongly Recommended)</a:t>
            </a:r>
          </a:p>
          <a:p>
            <a:pPr marL="0" indent="0">
              <a:buNone/>
            </a:pPr>
            <a:endParaRPr lang="en-US" sz="3800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Removal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reads: Bowtie2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reads: Minimap2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minimum read count/relative abundance thresholds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Multi-Evidence Chain Consensus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Multi-tool consensus (≥2 tools support)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Assembly evidence priority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Require medium-to-long contigs (&gt;5-10kb)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Viral hallmark genes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DIAMOND/RVDB or VirSorter2/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CheckV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</a:t>
            </a:r>
          </a:p>
        </p:txBody>
      </p:sp>
    </p:spTree>
    <p:extLst>
      <p:ext uri="{BB962C8B-B14F-4D97-AF65-F5344CB8AC3E}">
        <p14:creationId xmlns:p14="http://schemas.microsoft.com/office/powerpoint/2010/main" val="1829563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Decision Matrix (Scores 1-5)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7795AC-255A-437C-8A9F-7C477EEBD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64729"/>
              </p:ext>
            </p:extLst>
          </p:nvPr>
        </p:nvGraphicFramePr>
        <p:xfrm>
          <a:off x="253672" y="1275736"/>
          <a:ext cx="8325459" cy="3736355"/>
        </p:xfrm>
        <a:graphic>
          <a:graphicData uri="http://schemas.openxmlformats.org/drawingml/2006/table">
            <a:tbl>
              <a:tblPr/>
              <a:tblGrid>
                <a:gridCol w="1356852">
                  <a:extLst>
                    <a:ext uri="{9D8B030D-6E8A-4147-A177-3AD203B41FA5}">
                      <a16:colId xmlns:a16="http://schemas.microsoft.com/office/drawing/2014/main" val="782558634"/>
                    </a:ext>
                  </a:extLst>
                </a:gridCol>
                <a:gridCol w="843608">
                  <a:extLst>
                    <a:ext uri="{9D8B030D-6E8A-4147-A177-3AD203B41FA5}">
                      <a16:colId xmlns:a16="http://schemas.microsoft.com/office/drawing/2014/main" val="2130470095"/>
                    </a:ext>
                  </a:extLst>
                </a:gridCol>
                <a:gridCol w="749218">
                  <a:extLst>
                    <a:ext uri="{9D8B030D-6E8A-4147-A177-3AD203B41FA5}">
                      <a16:colId xmlns:a16="http://schemas.microsoft.com/office/drawing/2014/main" val="143184160"/>
                    </a:ext>
                  </a:extLst>
                </a:gridCol>
                <a:gridCol w="937997">
                  <a:extLst>
                    <a:ext uri="{9D8B030D-6E8A-4147-A177-3AD203B41FA5}">
                      <a16:colId xmlns:a16="http://schemas.microsoft.com/office/drawing/2014/main" val="2356210386"/>
                    </a:ext>
                  </a:extLst>
                </a:gridCol>
                <a:gridCol w="979293">
                  <a:extLst>
                    <a:ext uri="{9D8B030D-6E8A-4147-A177-3AD203B41FA5}">
                      <a16:colId xmlns:a16="http://schemas.microsoft.com/office/drawing/2014/main" val="143197341"/>
                    </a:ext>
                  </a:extLst>
                </a:gridCol>
                <a:gridCol w="831809">
                  <a:extLst>
                    <a:ext uri="{9D8B030D-6E8A-4147-A177-3AD203B41FA5}">
                      <a16:colId xmlns:a16="http://schemas.microsoft.com/office/drawing/2014/main" val="3907592121"/>
                    </a:ext>
                  </a:extLst>
                </a:gridCol>
                <a:gridCol w="855406">
                  <a:extLst>
                    <a:ext uri="{9D8B030D-6E8A-4147-A177-3AD203B41FA5}">
                      <a16:colId xmlns:a16="http://schemas.microsoft.com/office/drawing/2014/main" val="2264705359"/>
                    </a:ext>
                  </a:extLst>
                </a:gridCol>
                <a:gridCol w="846225">
                  <a:extLst>
                    <a:ext uri="{9D8B030D-6E8A-4147-A177-3AD203B41FA5}">
                      <a16:colId xmlns:a16="http://schemas.microsoft.com/office/drawing/2014/main" val="3819698881"/>
                    </a:ext>
                  </a:extLst>
                </a:gridCol>
                <a:gridCol w="925051">
                  <a:extLst>
                    <a:ext uri="{9D8B030D-6E8A-4147-A177-3AD203B41FA5}">
                      <a16:colId xmlns:a16="http://schemas.microsoft.com/office/drawing/2014/main" val="488137444"/>
                    </a:ext>
                  </a:extLst>
                </a:gridCol>
              </a:tblGrid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Dimension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taxprofiler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rvdb-viral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MLMVD-nf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nf-core/mag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GOTTCHA2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CLARK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sourmash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KrakenMetaReads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58844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Known Virus Sensitivity</a:t>
                      </a:r>
                      <a:endParaRPr lang="en-US" sz="1200" dirty="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153501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Distant Virus Discovery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72046"/>
                  </a:ext>
                </a:extLst>
              </a:tr>
              <a:tr h="22472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Specificity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303701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Result Reliability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86572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Analysis Speed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1536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Memory Efficiency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67892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Genome Reconstruction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5713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Engineering Maturity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5704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2A596F0-6418-4AAD-9C49-B7C9A0BE6A8A}"/>
              </a:ext>
            </a:extLst>
          </p:cNvPr>
          <p:cNvSpPr/>
          <p:nvPr/>
        </p:nvSpPr>
        <p:spPr>
          <a:xfrm>
            <a:off x="653353" y="5241178"/>
            <a:ext cx="7837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 scores are </a:t>
            </a:r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assessments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via MAG reconstruction and classification, not direct read-level detection. High specificity comes from MAG QC evidence chain (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CheckM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/GUNC/coverage), not read-level classification.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11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High-Confidence Consensus and Benchmark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screening)</a:t>
            </a:r>
          </a:p>
          <a:p>
            <a:pPr marL="54864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/ sourmash / assembly evidence (key target confirmation)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broad-spectrum detection + rapid overview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removal + thresholds + coverage validation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signature coverage confirmation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Scenarios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Wastewater environmental virus monitoring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Pre-clinical screening projects</a:t>
            </a:r>
          </a:p>
        </p:txBody>
      </p:sp>
    </p:spTree>
    <p:extLst>
      <p:ext uri="{BB962C8B-B14F-4D97-AF65-F5344CB8AC3E}">
        <p14:creationId xmlns:p14="http://schemas.microsoft.com/office/powerpoint/2010/main" val="4283914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Two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Emerging/Outbreak Pathogen Discovery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(discovery) → MLMVD-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(strict screening)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-core/mag (deep reconstruction)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Environmental unknown virus surveys, outbreak tracing</a:t>
            </a:r>
          </a:p>
        </p:txBody>
      </p:sp>
    </p:spTree>
    <p:extLst>
      <p:ext uri="{BB962C8B-B14F-4D97-AF65-F5344CB8AC3E}">
        <p14:creationId xmlns:p14="http://schemas.microsoft.com/office/powerpoint/2010/main" val="275936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Three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/>
              <a:t>Three: Wastewater Virus Monitoring</a:t>
            </a:r>
            <a:r>
              <a:rPr lang="zh-CN" altLang="en-US" sz="3900" b="1" dirty="0"/>
              <a:t>：</a:t>
            </a:r>
            <a:endParaRPr lang="en-US" altLang="zh-CN" sz="3900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(batch screening) → GOTTCHA2 (confirmation)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(assembly validation)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Multi-evidence chains + coverage thresholds + secondary confirmation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Distinguish "screen-positive" from "confirm-positive"</a:t>
            </a:r>
          </a:p>
        </p:txBody>
      </p:sp>
    </p:spTree>
    <p:extLst>
      <p:ext uri="{BB962C8B-B14F-4D97-AF65-F5344CB8AC3E}">
        <p14:creationId xmlns:p14="http://schemas.microsoft.com/office/powerpoint/2010/main" val="4252486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DD1C-1BD6-44E2-BDBA-171F5AF6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Final Recommendations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1B57F-57D3-4C32-A455-B1C8A66B42B7}"/>
              </a:ext>
            </a:extLst>
          </p:cNvPr>
          <p:cNvSpPr/>
          <p:nvPr/>
        </p:nvSpPr>
        <p:spPr>
          <a:xfrm>
            <a:off x="890803" y="1417638"/>
            <a:ext cx="810571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Core Recommendations</a:t>
            </a:r>
            <a:r>
              <a:rPr lang="zh-CN" altLang="en-US" sz="32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200" b="1" dirty="0">
              <a:solidFill>
                <a:srgbClr val="1F2328"/>
              </a:solidFill>
              <a:latin typeface="-apple-system"/>
            </a:endParaRPr>
          </a:p>
          <a:p>
            <a:endParaRPr lang="en-US" sz="3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Reproducibility is a Prerequisite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that cannot run stably should not enter public health decision chains</a:t>
            </a:r>
          </a:p>
          <a:p>
            <a:pPr lvl="1"/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Use Single Read Count as Existence Conclusion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use coverage/assembly/multi-tool consistency</a:t>
            </a:r>
          </a:p>
          <a:p>
            <a:pPr lvl="1"/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Evidence Tier Labels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Screen-positive / Supportive / Confirmed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636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6507-99FC-48E1-8B94-F51EB159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Conclusions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AC96-AD5F-48F4-BAAB-29DAE9C8A5DE}"/>
              </a:ext>
            </a:extLst>
          </p:cNvPr>
          <p:cNvSpPr/>
          <p:nvPr/>
        </p:nvSpPr>
        <p:spPr>
          <a:xfrm>
            <a:off x="637130" y="2136068"/>
            <a:ext cx="85068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single tool can meet all requirements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Need layered strategy: Rapid screening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Confirmation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 analysis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critical threshold for tool selection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Multi-evidence chain consensus is key to reducing false positives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23E-DACC-4FDE-8A6D-18033AC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11" y="3072586"/>
            <a:ext cx="6147841" cy="1552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8606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59955</TotalTime>
  <Words>1734</Words>
  <Application>Microsoft Office PowerPoint</Application>
  <PresentationFormat>On-screen Show (4:3)</PresentationFormat>
  <Paragraphs>386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-apple-system</vt:lpstr>
      <vt:lpstr>Monaspace Neon</vt:lpstr>
      <vt:lpstr>宋体</vt:lpstr>
      <vt:lpstr>Arial</vt:lpstr>
      <vt:lpstr>Calibri</vt:lpstr>
      <vt:lpstr>Times New Roman</vt:lpstr>
      <vt:lpstr>Wingdings</vt:lpstr>
      <vt:lpstr>Office Theme</vt:lpstr>
      <vt:lpstr>Wastewater Metagenomic Viral Detection Tool Assessment</vt:lpstr>
      <vt:lpstr>Assessment Background and Objectives</vt:lpstr>
      <vt:lpstr>Assessment Results Overview</vt:lpstr>
      <vt:lpstr>8 Tools for In-Depth Assessment</vt:lpstr>
      <vt:lpstr>Test Datasets</vt:lpstr>
      <vt:lpstr>Software Unable to be Assessed</vt:lpstr>
      <vt:lpstr>Tool Classification and Strategies</vt:lpstr>
      <vt:lpstr>nf-core/taxprofiler</vt:lpstr>
      <vt:lpstr>GOTTCHA2</vt:lpstr>
      <vt:lpstr>sourmash</vt:lpstr>
      <vt:lpstr>CLARK</vt:lpstr>
      <vt:lpstr>nf-core/mag</vt:lpstr>
      <vt:lpstr>rvdb-viral-metagenome-nf</vt:lpstr>
      <vt:lpstr>MLMVD-nf</vt:lpstr>
      <vt:lpstr>KrakenMetaReads-nf</vt:lpstr>
      <vt:lpstr> Empirical Results - taxprofiler</vt:lpstr>
      <vt:lpstr>Empirical Results - Assembly Strategy Comparison</vt:lpstr>
      <vt:lpstr>Empirical Results - Discovery-Oriented Tools</vt:lpstr>
      <vt:lpstr>Computational Resources and Engineering Costs</vt:lpstr>
      <vt:lpstr>Database is the "Invisible Deciding Factor"</vt:lpstr>
      <vt:lpstr>False Positive Control Strategies</vt:lpstr>
      <vt:lpstr>Decision Matrix (Scores 1-5)</vt:lpstr>
      <vt:lpstr>Recommended Solution One</vt:lpstr>
      <vt:lpstr>Recommended Solutions Two</vt:lpstr>
      <vt:lpstr>Recommended Solutions Three</vt:lpstr>
      <vt:lpstr>Final Recommendations</vt:lpstr>
      <vt:lpstr>Key 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Pathogen Surveillance Workflow</dc:title>
  <dc:subject/>
  <dc:creator>Sihua Peng</dc:creator>
  <cp:keywords/>
  <dc:description>generated using python-pptx</dc:description>
  <cp:lastModifiedBy>Sihua Peng</cp:lastModifiedBy>
  <cp:revision>368</cp:revision>
  <dcterms:created xsi:type="dcterms:W3CDTF">2013-01-27T09:14:16Z</dcterms:created>
  <dcterms:modified xsi:type="dcterms:W3CDTF">2025-12-17T19:22:28Z</dcterms:modified>
  <cp:category/>
</cp:coreProperties>
</file>